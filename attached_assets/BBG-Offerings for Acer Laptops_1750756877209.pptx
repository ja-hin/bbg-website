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744" r:id="rId3"/>
  </p:sldMasterIdLst>
  <p:notesMasterIdLst>
    <p:notesMasterId r:id="rId14"/>
  </p:notesMasterIdLst>
  <p:sldIdLst>
    <p:sldId id="266" r:id="rId4"/>
    <p:sldId id="267" r:id="rId5"/>
    <p:sldId id="278" r:id="rId6"/>
    <p:sldId id="272" r:id="rId7"/>
    <p:sldId id="276" r:id="rId8"/>
    <p:sldId id="279" r:id="rId9"/>
    <p:sldId id="281" r:id="rId10"/>
    <p:sldId id="282" r:id="rId11"/>
    <p:sldId id="283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969"/>
    <a:srgbClr val="16365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64A03B-4E0B-22A1-E5D2-75BA9DE2A848}" v="54" dt="2023-11-01T05:38:04.229"/>
    <p1510:client id="{D6DDFC25-183E-5D8F-64D4-BB5669CF0E12}" v="18" dt="2023-09-13T03:46:30.313"/>
    <p1510:client id="{9F26B6B8-5B0E-4336-25F1-382E49757478}" v="1896" dt="2023-09-14T04:43:36.570"/>
    <p1510:client id="{82E3D9B5-8F04-293B-67B8-82827330E117}" v="27" dt="2023-09-16T05:27:20.835"/>
    <p1510:client id="{741BA6AE-95EE-DF0D-512A-04C981D4A128}" v="2" dt="2023-09-25T09:00:15.131"/>
    <p1510:client id="{21327477-3A47-8804-A367-00CE37162E81}" v="49" dt="2023-09-15T08:17:42.572"/>
    <p1510:client id="{028A0E07-529B-2339-6D34-CC2E7219E18F}" v="1" dt="2023-11-08T09:14:18.404"/>
    <p1510:client id="{101D411F-1E10-0ACE-64DE-6829F1EC8225}" v="342" dt="2023-09-20T15:28:52.258"/>
    <p1510:client id="{C1412048-5E01-1A27-A83A-CB73A19671F8}" v="117" dt="2023-09-18T14:11:20.063"/>
    <p1510:client id="{8C05B991-6D63-10FB-8DC1-9B4150E50EA7}" v="1360" dt="2023-09-12T11:54:55.915"/>
    <p1510:client id="{3D145D34-E086-5473-ACBB-0B79BA137455}" v="2286" dt="2023-09-15T09:48:47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8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3588C-B457-4135-84DA-BE46030C97E0}" type="datetimeFigureOut">
              <a:rPr lang="en-US"/>
              <a:pPr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FE552-ADBC-495D-AA04-943B48E37A43}" type="slidenum">
              <a:rPr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72542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627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6502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7665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71188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38763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01830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8394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8555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7332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93490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296564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4562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953285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73103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4408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593074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57463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7267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5628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0907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92127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4798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646A6-8864-452D-AFB9-B786DB8C26F3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53937-47D7-43B4-BB13-B7417ACCAC7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730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CB217-F318-499A-AC26-1EC94D241CD7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10-06-2025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ED610-F0AF-4F67-827D-5E6F28DCE721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2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11178" y="4865697"/>
            <a:ext cx="1074742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200" b="1" dirty="0" smtClean="0">
                <a:solidFill>
                  <a:srgbClr val="002060"/>
                </a:solidFill>
                <a:latin typeface="Mongolian Baiti" pitchFamily="66" charset="0"/>
                <a:ea typeface="Lato"/>
                <a:cs typeface="Mongolian Baiti" pitchFamily="66" charset="0"/>
              </a:rPr>
              <a:t>“Assured Buy Back” Program powered by </a:t>
            </a:r>
            <a:r>
              <a:rPr lang="en-IN" sz="3200" b="1" dirty="0" err="1" smtClean="0">
                <a:solidFill>
                  <a:srgbClr val="002060"/>
                </a:solidFill>
                <a:latin typeface="Mongolian Baiti" pitchFamily="66" charset="0"/>
                <a:ea typeface="Lato"/>
                <a:cs typeface="Mongolian Baiti" pitchFamily="66" charset="0"/>
              </a:rPr>
              <a:t>XtraCover</a:t>
            </a:r>
            <a:endParaRPr lang="en-US" sz="3200" dirty="0">
              <a:latin typeface="Mongolian Baiti" pitchFamily="66" charset="0"/>
              <a:cs typeface="Mongolian Baiti" pitchFamily="66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44545" y="1677573"/>
            <a:ext cx="3334043" cy="45719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Surface Laptop 5: A Lightweight Business Laptop for Productive Work | Microsoft  Surface for Business">
            <a:extLst>
              <a:ext uri="{FF2B5EF4-FFF2-40B4-BE49-F238E27FC236}">
                <a16:creationId xmlns="" xmlns:a16="http://schemas.microsoft.com/office/drawing/2014/main" id="{275A0500-ABE5-D711-F8FA-E4322F3B869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4329" y="1309567"/>
            <a:ext cx="6185806" cy="34904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6CE9730-5EE7-85DF-102B-A93651C6C750}"/>
              </a:ext>
            </a:extLst>
          </p:cNvPr>
          <p:cNvSpPr/>
          <p:nvPr/>
        </p:nvSpPr>
        <p:spPr>
          <a:xfrm>
            <a:off x="8468405" y="1749197"/>
            <a:ext cx="3007178" cy="2013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="" xmlns:a16="http://schemas.microsoft.com/office/drawing/2014/main" id="{7DEFD442-812B-5D74-4AEC-F8CD9F2A4FC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476719" y="2231062"/>
            <a:ext cx="981713" cy="987195"/>
          </a:xfrm>
          <a:prstGeom prst="rect">
            <a:avLst/>
          </a:prstGeom>
        </p:spPr>
      </p:pic>
      <p:pic>
        <p:nvPicPr>
          <p:cNvPr id="11" name="Picture 10" descr="acer-logo_01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629" y="2095651"/>
            <a:ext cx="3452153" cy="112570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85930" y="3222685"/>
            <a:ext cx="3334043" cy="45719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3" name="Picture 12" descr="Untitled-removebg-preview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54685" y="844427"/>
            <a:ext cx="3253081" cy="7512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4046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ck Mark Icon 9591689 PNG">
            <a:extLst>
              <a:ext uri="{FF2B5EF4-FFF2-40B4-BE49-F238E27FC236}">
                <a16:creationId xmlns="" xmlns:a16="http://schemas.microsoft.com/office/drawing/2014/main" id="{B6A84C3E-2B73-EF08-E2A7-8CC915F35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6" y="2685886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heck Mark Icon 9591689 PNG">
            <a:extLst>
              <a:ext uri="{FF2B5EF4-FFF2-40B4-BE49-F238E27FC236}">
                <a16:creationId xmlns="" xmlns:a16="http://schemas.microsoft.com/office/drawing/2014/main" id="{3E1C5CB5-5C54-0F02-5321-0826572D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5" y="3827192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heck Mark Icon 9591689 PNG">
            <a:extLst>
              <a:ext uri="{FF2B5EF4-FFF2-40B4-BE49-F238E27FC236}">
                <a16:creationId xmlns="" xmlns:a16="http://schemas.microsoft.com/office/drawing/2014/main" id="{FF3D64E1-B644-B17D-BDDB-3D20438E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524" y="2759627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">
            <a:extLst>
              <a:ext uri="{FF2B5EF4-FFF2-40B4-BE49-F238E27FC236}">
                <a16:creationId xmlns="" xmlns:a16="http://schemas.microsoft.com/office/drawing/2014/main" id="{41464896-770F-225D-1EB3-040C89B0BE37}"/>
              </a:ext>
            </a:extLst>
          </p:cNvPr>
          <p:cNvSpPr txBox="1"/>
          <p:nvPr/>
        </p:nvSpPr>
        <p:spPr>
          <a:xfrm>
            <a:off x="1228945" y="2802471"/>
            <a:ext cx="44522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Get Assured Value </a:t>
            </a:r>
            <a:endParaRPr lang="en-US" b="1" dirty="0">
              <a:solidFill>
                <a:srgbClr val="FFFFFF"/>
              </a:solidFill>
              <a:latin typeface="Lato" panose="020F0502020204030203" pitchFamily="34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While Selling Your </a:t>
            </a:r>
            <a:r>
              <a:rPr lang="en-US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Laptop</a:t>
            </a:r>
            <a:endParaRPr lang="en-US" dirty="0">
              <a:solidFill>
                <a:srgbClr val="FFFF00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="" xmlns:a16="http://schemas.microsoft.com/office/drawing/2014/main" id="{6AD9ECE9-817F-2A53-140F-7DA5A1144556}"/>
              </a:ext>
            </a:extLst>
          </p:cNvPr>
          <p:cNvSpPr txBox="1"/>
          <p:nvPr/>
        </p:nvSpPr>
        <p:spPr>
          <a:xfrm>
            <a:off x="1228946" y="3893775"/>
            <a:ext cx="445225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Instant Payment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  <a:p>
            <a:r>
              <a:rPr lang="en-US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Get Instant </a:t>
            </a:r>
            <a:r>
              <a:rPr lang="en-US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eVoucher , redeemable at</a:t>
            </a:r>
          </a:p>
          <a:p>
            <a:r>
              <a:rPr lang="en-US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Acer eStore while making new purchase</a:t>
            </a:r>
            <a:endParaRPr lang="en-US" dirty="0">
              <a:solidFill>
                <a:srgbClr val="FFFF00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="" xmlns:a16="http://schemas.microsoft.com/office/drawing/2014/main" id="{977FEC8C-7BA5-CE90-3CCD-1E9718AB7A3F}"/>
              </a:ext>
            </a:extLst>
          </p:cNvPr>
          <p:cNvSpPr txBox="1"/>
          <p:nvPr/>
        </p:nvSpPr>
        <p:spPr>
          <a:xfrm>
            <a:off x="6970885" y="2815429"/>
            <a:ext cx="474828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Free Pickup</a:t>
            </a:r>
            <a:endParaRPr lang="en-US" b="1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  <a:p>
            <a:r>
              <a:rPr lang="en-US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For Your </a:t>
            </a:r>
            <a:r>
              <a:rPr lang="en-US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Laptop </a:t>
            </a:r>
            <a:r>
              <a:rPr lang="en-US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at Your Convenient </a:t>
            </a:r>
            <a:r>
              <a:rPr lang="en-US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Address irrespective of original address on invoice</a:t>
            </a:r>
            <a:endParaRPr lang="en-US" dirty="0">
              <a:solidFill>
                <a:srgbClr val="FFFF00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pic>
        <p:nvPicPr>
          <p:cNvPr id="21" name="Picture 20" descr="Check Mark Icon 9591689 PNG">
            <a:extLst>
              <a:ext uri="{FF2B5EF4-FFF2-40B4-BE49-F238E27FC236}">
                <a16:creationId xmlns="" xmlns:a16="http://schemas.microsoft.com/office/drawing/2014/main" id="{57186DD8-C170-3BDF-EA61-333F7676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15" y="3783324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8">
            <a:extLst>
              <a:ext uri="{FF2B5EF4-FFF2-40B4-BE49-F238E27FC236}">
                <a16:creationId xmlns="" xmlns:a16="http://schemas.microsoft.com/office/drawing/2014/main" id="{6C9A18F3-1769-2DBA-4136-2859FACC4213}"/>
              </a:ext>
            </a:extLst>
          </p:cNvPr>
          <p:cNvSpPr txBox="1"/>
          <p:nvPr/>
        </p:nvSpPr>
        <p:spPr>
          <a:xfrm>
            <a:off x="6993975" y="3880981"/>
            <a:ext cx="44522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Hassle Free Claims</a:t>
            </a:r>
            <a:endParaRPr lang="en-US" b="1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  <a:p>
            <a:r>
              <a:rPr lang="en-US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Easy One-Call Pickup Scheduling System</a:t>
            </a:r>
            <a:endParaRPr lang="en-US" dirty="0">
              <a:solidFill>
                <a:srgbClr val="FFFF00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01D4AC90-324E-86A0-0A8E-36606479D69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2167" y="409227"/>
            <a:ext cx="2425181" cy="2417484"/>
          </a:xfrm>
          <a:prstGeom prst="rect">
            <a:avLst/>
          </a:prstGeom>
        </p:spPr>
      </p:pic>
      <p:sp>
        <p:nvSpPr>
          <p:cNvPr id="26" name="TextBox 10">
            <a:extLst>
              <a:ext uri="{FF2B5EF4-FFF2-40B4-BE49-F238E27FC236}">
                <a16:creationId xmlns="" xmlns:a16="http://schemas.microsoft.com/office/drawing/2014/main" id="{069FDE3E-DDCF-2ABF-BED4-6F61BA8DD6A4}"/>
              </a:ext>
            </a:extLst>
          </p:cNvPr>
          <p:cNvSpPr txBox="1"/>
          <p:nvPr/>
        </p:nvSpPr>
        <p:spPr>
          <a:xfrm>
            <a:off x="3779915" y="510637"/>
            <a:ext cx="506410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Premiere Buyback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Program 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that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g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ives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onsumers FREEDOM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o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b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uy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enjoy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and then 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sell Acer Laptops </a:t>
            </a:r>
            <a:r>
              <a:rPr lang="en-US" sz="2000" b="1" dirty="0">
                <a:solidFill>
                  <a:srgbClr val="00B0F0"/>
                </a:solidFill>
                <a:latin typeface="Lato"/>
                <a:ea typeface="Lato"/>
                <a:cs typeface="Lato"/>
              </a:rPr>
              <a:t>at an </a:t>
            </a:r>
            <a:r>
              <a:rPr lang="en-US" sz="2000" b="1" dirty="0">
                <a:solidFill>
                  <a:srgbClr val="FFFF00"/>
                </a:solidFill>
                <a:latin typeface="Lato"/>
                <a:ea typeface="Lato"/>
                <a:cs typeface="Lato"/>
              </a:rPr>
              <a:t>Assured </a:t>
            </a:r>
            <a:r>
              <a:rPr lang="en-US" sz="2000" b="1" dirty="0" smtClean="0">
                <a:solidFill>
                  <a:srgbClr val="FFFF00"/>
                </a:solidFill>
                <a:latin typeface="Lato"/>
                <a:ea typeface="Lato"/>
                <a:cs typeface="Lato"/>
              </a:rPr>
              <a:t>Price </a:t>
            </a:r>
            <a:r>
              <a:rPr lang="en-US" sz="2000" b="1" dirty="0" smtClean="0">
                <a:solidFill>
                  <a:srgbClr val="00B0F0"/>
                </a:solidFill>
                <a:latin typeface="Lato"/>
                <a:ea typeface="Lato"/>
                <a:cs typeface="Lato"/>
              </a:rPr>
              <a:t>within or outside Warranty</a:t>
            </a:r>
            <a:endParaRPr lang="en-US" sz="2000" b="1" dirty="0">
              <a:solidFill>
                <a:srgbClr val="FFFF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852E0158-BC00-EB1A-4FA5-0BD5C7C895A2}"/>
              </a:ext>
            </a:extLst>
          </p:cNvPr>
          <p:cNvSpPr/>
          <p:nvPr/>
        </p:nvSpPr>
        <p:spPr>
          <a:xfrm rot="5400000">
            <a:off x="2555999" y="1602204"/>
            <a:ext cx="1769635" cy="28402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="" xmlns:a16="http://schemas.microsoft.com/office/drawing/2014/main" id="{E1F96883-C2F5-8919-B65B-358C5D1013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8795" y="1267236"/>
            <a:ext cx="1133680" cy="1133680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="" xmlns:a16="http://schemas.microsoft.com/office/drawing/2014/main" id="{5B5293E7-46E2-11D5-2F7F-7ADF53A7B2F8}"/>
              </a:ext>
            </a:extLst>
          </p:cNvPr>
          <p:cNvSpPr txBox="1"/>
          <p:nvPr/>
        </p:nvSpPr>
        <p:spPr>
          <a:xfrm>
            <a:off x="9183898" y="1015675"/>
            <a:ext cx="33678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AvAcerable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For:</a:t>
            </a:r>
            <a:endParaRPr lang="en-US" dirty="0"/>
          </a:p>
        </p:txBody>
      </p:sp>
      <p:pic>
        <p:nvPicPr>
          <p:cNvPr id="7" name="Picture 6" descr="Check Mark Icon 9591689 PNG">
            <a:extLst>
              <a:ext uri="{FF2B5EF4-FFF2-40B4-BE49-F238E27FC236}">
                <a16:creationId xmlns="" xmlns:a16="http://schemas.microsoft.com/office/drawing/2014/main" id="{B137AC6C-7900-839A-A026-BB3075633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316" y="4817426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47768" y="5003546"/>
            <a:ext cx="44245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Periodical value assessment via 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notification to Customer on </a:t>
            </a:r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depreciated </a:t>
            </a:r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value of his 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Laptop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="" xmlns:a16="http://schemas.microsoft.com/office/drawing/2014/main" id="{6AD9ECE9-817F-2A53-140F-7DA5A1144556}"/>
              </a:ext>
            </a:extLst>
          </p:cNvPr>
          <p:cNvSpPr txBox="1"/>
          <p:nvPr/>
        </p:nvSpPr>
        <p:spPr>
          <a:xfrm>
            <a:off x="4053944" y="2062865"/>
            <a:ext cx="445225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SALIENT FEATURES</a:t>
            </a:r>
            <a:endParaRPr lang="en-US" dirty="0">
              <a:solidFill>
                <a:srgbClr val="FFFF00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pic>
        <p:nvPicPr>
          <p:cNvPr id="22" name="Picture 21" descr="Untitled-removebg-preview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8565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918099E-1BB1-4710-28A8-C6CB5146B9EA}"/>
              </a:ext>
            </a:extLst>
          </p:cNvPr>
          <p:cNvSpPr/>
          <p:nvPr/>
        </p:nvSpPr>
        <p:spPr>
          <a:xfrm>
            <a:off x="1820029" y="740071"/>
            <a:ext cx="4056690" cy="5241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/>
              <a:cs typeface="Helvetic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949633CC-7A2B-21D0-BAC9-1A2D960EB37F}"/>
              </a:ext>
            </a:extLst>
          </p:cNvPr>
          <p:cNvSpPr/>
          <p:nvPr/>
        </p:nvSpPr>
        <p:spPr>
          <a:xfrm>
            <a:off x="6496187" y="772963"/>
            <a:ext cx="4051208" cy="518968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/>
              <a:cs typeface="Helvetic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4C984B1-2365-4FE6-DC01-3563C3E0B62D}"/>
              </a:ext>
            </a:extLst>
          </p:cNvPr>
          <p:cNvSpPr/>
          <p:nvPr/>
        </p:nvSpPr>
        <p:spPr>
          <a:xfrm>
            <a:off x="2144848" y="1806365"/>
            <a:ext cx="3403275" cy="33884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EBD7AF6E-74BA-2D30-D63A-6E7EE71EC4C1}"/>
              </a:ext>
            </a:extLst>
          </p:cNvPr>
          <p:cNvSpPr/>
          <p:nvPr/>
        </p:nvSpPr>
        <p:spPr>
          <a:xfrm>
            <a:off x="6821006" y="1800883"/>
            <a:ext cx="3403275" cy="33884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="" xmlns:a16="http://schemas.microsoft.com/office/drawing/2014/main" id="{C52B68A3-1C41-D4BE-8EE5-A920D87EBF43}"/>
              </a:ext>
            </a:extLst>
          </p:cNvPr>
          <p:cNvSpPr txBox="1"/>
          <p:nvPr/>
        </p:nvSpPr>
        <p:spPr>
          <a:xfrm>
            <a:off x="6655966" y="829691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Assured </a:t>
            </a:r>
            <a:r>
              <a:rPr lang="en-US" sz="2400" b="1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BuyBack</a:t>
            </a:r>
            <a:r>
              <a:rPr lang="en-US" sz="24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Value</a:t>
            </a:r>
            <a:endParaRPr lang="en-US" sz="2400" dirty="0">
              <a:cs typeface="Calibri" panose="020F0502020204030204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="" xmlns:a16="http://schemas.microsoft.com/office/drawing/2014/main" id="{EF12D560-A38F-90A3-8519-65CC045701D9}"/>
              </a:ext>
            </a:extLst>
          </p:cNvPr>
          <p:cNvSpPr txBox="1"/>
          <p:nvPr/>
        </p:nvSpPr>
        <p:spPr>
          <a:xfrm>
            <a:off x="2007942" y="1026639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163654"/>
                </a:solidFill>
                <a:latin typeface="Lato"/>
                <a:ea typeface="Lato"/>
                <a:cs typeface="Lato"/>
              </a:rPr>
              <a:t>Device Age</a:t>
            </a:r>
            <a:endParaRPr lang="en-US" sz="2400" dirty="0">
              <a:solidFill>
                <a:srgbClr val="163654"/>
              </a:solidFill>
              <a:cs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9D0489B3-69D5-ADD9-CB8F-6BB2EE1E84C3}"/>
              </a:ext>
            </a:extLst>
          </p:cNvPr>
          <p:cNvSpPr/>
          <p:nvPr/>
        </p:nvSpPr>
        <p:spPr>
          <a:xfrm>
            <a:off x="2144848" y="2253950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08365910-0DC7-AAD4-D6BF-3A22BA6DF87C}"/>
              </a:ext>
            </a:extLst>
          </p:cNvPr>
          <p:cNvSpPr/>
          <p:nvPr/>
        </p:nvSpPr>
        <p:spPr>
          <a:xfrm>
            <a:off x="2144847" y="2757807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40BE6797-44CD-EB11-0D29-AE92DF3FD3EC}"/>
              </a:ext>
            </a:extLst>
          </p:cNvPr>
          <p:cNvSpPr/>
          <p:nvPr/>
        </p:nvSpPr>
        <p:spPr>
          <a:xfrm>
            <a:off x="2144847" y="3261664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B1C6A6D3-80A7-75F0-3244-E02FE54FFAD9}"/>
              </a:ext>
            </a:extLst>
          </p:cNvPr>
          <p:cNvSpPr/>
          <p:nvPr/>
        </p:nvSpPr>
        <p:spPr>
          <a:xfrm>
            <a:off x="6848416" y="2264914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0F1AFCBB-0367-63A2-3C9E-194FD3B7D1C7}"/>
              </a:ext>
            </a:extLst>
          </p:cNvPr>
          <p:cNvSpPr/>
          <p:nvPr/>
        </p:nvSpPr>
        <p:spPr>
          <a:xfrm>
            <a:off x="6848415" y="2768771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6ACBE386-99DA-4538-A2D7-C43EB4A4CB26}"/>
              </a:ext>
            </a:extLst>
          </p:cNvPr>
          <p:cNvSpPr/>
          <p:nvPr/>
        </p:nvSpPr>
        <p:spPr>
          <a:xfrm>
            <a:off x="6848415" y="3272628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="" xmlns:a16="http://schemas.microsoft.com/office/drawing/2014/main" id="{BEA53917-7E46-0F49-DA00-188EA629AA43}"/>
              </a:ext>
            </a:extLst>
          </p:cNvPr>
          <p:cNvSpPr txBox="1"/>
          <p:nvPr/>
        </p:nvSpPr>
        <p:spPr>
          <a:xfrm>
            <a:off x="2007942" y="1773205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6 – 12 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="" xmlns:a16="http://schemas.microsoft.com/office/drawing/2014/main" id="{6622706F-21AC-B26D-CB2E-872B67192D95}"/>
              </a:ext>
            </a:extLst>
          </p:cNvPr>
          <p:cNvSpPr txBox="1"/>
          <p:nvPr/>
        </p:nvSpPr>
        <p:spPr>
          <a:xfrm>
            <a:off x="2007942" y="2279791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13 - 18 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TextBox 10">
            <a:extLst>
              <a:ext uri="{FF2B5EF4-FFF2-40B4-BE49-F238E27FC236}">
                <a16:creationId xmlns="" xmlns:a16="http://schemas.microsoft.com/office/drawing/2014/main" id="{CE441B37-CBDE-327D-4CF7-5F3F62D18B9E}"/>
              </a:ext>
            </a:extLst>
          </p:cNvPr>
          <p:cNvSpPr txBox="1"/>
          <p:nvPr/>
        </p:nvSpPr>
        <p:spPr>
          <a:xfrm>
            <a:off x="2007942" y="2786391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19 - 24 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TextBox 10">
            <a:extLst>
              <a:ext uri="{FF2B5EF4-FFF2-40B4-BE49-F238E27FC236}">
                <a16:creationId xmlns="" xmlns:a16="http://schemas.microsoft.com/office/drawing/2014/main" id="{01F3DB5D-9FB1-76D9-94EB-86B672433839}"/>
              </a:ext>
            </a:extLst>
          </p:cNvPr>
          <p:cNvSpPr txBox="1"/>
          <p:nvPr/>
        </p:nvSpPr>
        <p:spPr>
          <a:xfrm>
            <a:off x="6711510" y="1784168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7</a:t>
            </a:r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0</a:t>
            </a:r>
            <a:r>
              <a:rPr lang="en-US" sz="24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%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="" xmlns:a16="http://schemas.microsoft.com/office/drawing/2014/main" id="{A7E9C945-79D7-956B-2A43-E98D5B1F6D53}"/>
              </a:ext>
            </a:extLst>
          </p:cNvPr>
          <p:cNvSpPr txBox="1"/>
          <p:nvPr/>
        </p:nvSpPr>
        <p:spPr>
          <a:xfrm>
            <a:off x="6725578" y="2276686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60%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10">
            <a:extLst>
              <a:ext uri="{FF2B5EF4-FFF2-40B4-BE49-F238E27FC236}">
                <a16:creationId xmlns="" xmlns:a16="http://schemas.microsoft.com/office/drawing/2014/main" id="{F7D8979C-419C-8363-E580-76DB0F57ECAC}"/>
              </a:ext>
            </a:extLst>
          </p:cNvPr>
          <p:cNvSpPr txBox="1"/>
          <p:nvPr/>
        </p:nvSpPr>
        <p:spPr>
          <a:xfrm>
            <a:off x="6711510" y="2797354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50%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TextBox 10">
            <a:extLst>
              <a:ext uri="{FF2B5EF4-FFF2-40B4-BE49-F238E27FC236}">
                <a16:creationId xmlns="" xmlns:a16="http://schemas.microsoft.com/office/drawing/2014/main" id="{C8E213A7-180F-6CFC-6332-1E5176422B12}"/>
              </a:ext>
            </a:extLst>
          </p:cNvPr>
          <p:cNvSpPr txBox="1"/>
          <p:nvPr/>
        </p:nvSpPr>
        <p:spPr>
          <a:xfrm>
            <a:off x="6684100" y="3329106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40%</a:t>
            </a:r>
            <a:endParaRPr lang="en-US" dirty="0">
              <a:solidFill>
                <a:schemeClr val="bg1"/>
              </a:solidFill>
              <a:cs typeface="Calibri" panose="020F0502020204030204"/>
            </a:endParaRPr>
          </a:p>
        </p:txBody>
      </p:sp>
      <p:sp>
        <p:nvSpPr>
          <p:cNvPr id="48" name="TextBox 10">
            <a:extLst>
              <a:ext uri="{FF2B5EF4-FFF2-40B4-BE49-F238E27FC236}">
                <a16:creationId xmlns="" xmlns:a16="http://schemas.microsoft.com/office/drawing/2014/main" id="{F6422FA5-70EB-6E3D-D2D2-1C033F98C853}"/>
              </a:ext>
            </a:extLst>
          </p:cNvPr>
          <p:cNvSpPr txBox="1"/>
          <p:nvPr/>
        </p:nvSpPr>
        <p:spPr>
          <a:xfrm>
            <a:off x="2007942" y="1487128"/>
            <a:ext cx="36748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rgbClr val="163654"/>
                </a:solidFill>
                <a:latin typeface="Lato"/>
                <a:ea typeface="Lato"/>
                <a:cs typeface="Lato"/>
              </a:rPr>
              <a:t>(From Date of Invoice)</a:t>
            </a:r>
            <a:endParaRPr lang="en-US"/>
          </a:p>
        </p:txBody>
      </p:sp>
      <p:sp>
        <p:nvSpPr>
          <p:cNvPr id="49" name="TextBox 10">
            <a:extLst>
              <a:ext uri="{FF2B5EF4-FFF2-40B4-BE49-F238E27FC236}">
                <a16:creationId xmlns="" xmlns:a16="http://schemas.microsoft.com/office/drawing/2014/main" id="{4DC6FEE4-DDC2-503E-B930-35E0B48DE42B}"/>
              </a:ext>
            </a:extLst>
          </p:cNvPr>
          <p:cNvSpPr txBox="1"/>
          <p:nvPr/>
        </p:nvSpPr>
        <p:spPr>
          <a:xfrm>
            <a:off x="6684101" y="1509695"/>
            <a:ext cx="36748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(Device Value Excluding GST)</a:t>
            </a:r>
            <a:endParaRPr lang="en-US" sz="16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6" name="Graphic 5" descr="Laptop with solid fill">
            <a:extLst>
              <a:ext uri="{FF2B5EF4-FFF2-40B4-BE49-F238E27FC236}">
                <a16:creationId xmlns="" xmlns:a16="http://schemas.microsoft.com/office/drawing/2014/main" id="{50C4EB74-3F44-DF21-B0BE-3B183213CF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756" y="-57472"/>
            <a:ext cx="1133680" cy="1133680"/>
          </a:xfrm>
          <a:prstGeom prst="rect">
            <a:avLst/>
          </a:prstGeom>
        </p:spPr>
      </p:pic>
      <p:sp>
        <p:nvSpPr>
          <p:cNvPr id="26" name="TextBox 10">
            <a:extLst>
              <a:ext uri="{FF2B5EF4-FFF2-40B4-BE49-F238E27FC236}">
                <a16:creationId xmlns="" xmlns:a16="http://schemas.microsoft.com/office/drawing/2014/main" id="{CE441B37-CBDE-327D-4CF7-5F3F62D18B9E}"/>
              </a:ext>
            </a:extLst>
          </p:cNvPr>
          <p:cNvSpPr txBox="1"/>
          <p:nvPr/>
        </p:nvSpPr>
        <p:spPr>
          <a:xfrm>
            <a:off x="1984788" y="3271135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25 –30 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40BE6797-44CD-EB11-0D29-AE92DF3FD3EC}"/>
              </a:ext>
            </a:extLst>
          </p:cNvPr>
          <p:cNvSpPr/>
          <p:nvPr/>
        </p:nvSpPr>
        <p:spPr>
          <a:xfrm>
            <a:off x="2201997" y="3764580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="" xmlns:a16="http://schemas.microsoft.com/office/drawing/2014/main" id="{CE441B37-CBDE-327D-4CF7-5F3F62D18B9E}"/>
              </a:ext>
            </a:extLst>
          </p:cNvPr>
          <p:cNvSpPr txBox="1"/>
          <p:nvPr/>
        </p:nvSpPr>
        <p:spPr>
          <a:xfrm>
            <a:off x="2007942" y="3803065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31 – 36 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6ACBE386-99DA-4538-A2D7-C43EB4A4CB26}"/>
              </a:ext>
            </a:extLst>
          </p:cNvPr>
          <p:cNvSpPr/>
          <p:nvPr/>
        </p:nvSpPr>
        <p:spPr>
          <a:xfrm>
            <a:off x="6886515" y="3794594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="" xmlns:a16="http://schemas.microsoft.com/office/drawing/2014/main" id="{C8E213A7-180F-6CFC-6332-1E5176422B12}"/>
              </a:ext>
            </a:extLst>
          </p:cNvPr>
          <p:cNvSpPr txBox="1"/>
          <p:nvPr/>
        </p:nvSpPr>
        <p:spPr>
          <a:xfrm>
            <a:off x="6722200" y="3817954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3</a:t>
            </a:r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0</a:t>
            </a:r>
            <a:r>
              <a:rPr lang="en-US" sz="24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%</a:t>
            </a:r>
            <a:endParaRPr lang="en-US" dirty="0">
              <a:solidFill>
                <a:schemeClr val="bg1"/>
              </a:solidFill>
              <a:cs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40BE6797-44CD-EB11-0D29-AE92DF3FD3EC}"/>
              </a:ext>
            </a:extLst>
          </p:cNvPr>
          <p:cNvSpPr/>
          <p:nvPr/>
        </p:nvSpPr>
        <p:spPr>
          <a:xfrm>
            <a:off x="2199649" y="4268680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6ACBE386-99DA-4538-A2D7-C43EB4A4CB26}"/>
              </a:ext>
            </a:extLst>
          </p:cNvPr>
          <p:cNvSpPr/>
          <p:nvPr/>
        </p:nvSpPr>
        <p:spPr>
          <a:xfrm>
            <a:off x="6926371" y="4284626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="" xmlns:a16="http://schemas.microsoft.com/office/drawing/2014/main" id="{CE441B37-CBDE-327D-4CF7-5F3F62D18B9E}"/>
              </a:ext>
            </a:extLst>
          </p:cNvPr>
          <p:cNvSpPr txBox="1"/>
          <p:nvPr/>
        </p:nvSpPr>
        <p:spPr>
          <a:xfrm>
            <a:off x="2005594" y="4321233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rgbClr val="163654"/>
                </a:solidFill>
                <a:ea typeface="+mn-lt"/>
                <a:cs typeface="+mn-lt"/>
              </a:rPr>
              <a:t>37 </a:t>
            </a:r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– </a:t>
            </a:r>
            <a:r>
              <a:rPr lang="en-US" sz="2400" dirty="0" smtClean="0">
                <a:solidFill>
                  <a:srgbClr val="163654"/>
                </a:solidFill>
                <a:ea typeface="+mn-lt"/>
                <a:cs typeface="+mn-lt"/>
              </a:rPr>
              <a:t>48 </a:t>
            </a:r>
            <a:r>
              <a:rPr lang="en-US" sz="2400" dirty="0">
                <a:solidFill>
                  <a:srgbClr val="163654"/>
                </a:solidFill>
                <a:ea typeface="+mn-lt"/>
                <a:cs typeface="+mn-lt"/>
              </a:rPr>
              <a:t>Months</a:t>
            </a: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TextBox 10">
            <a:extLst>
              <a:ext uri="{FF2B5EF4-FFF2-40B4-BE49-F238E27FC236}">
                <a16:creationId xmlns="" xmlns:a16="http://schemas.microsoft.com/office/drawing/2014/main" id="{C8E213A7-180F-6CFC-6332-1E5176422B12}"/>
              </a:ext>
            </a:extLst>
          </p:cNvPr>
          <p:cNvSpPr txBox="1"/>
          <p:nvPr/>
        </p:nvSpPr>
        <p:spPr>
          <a:xfrm>
            <a:off x="6722200" y="4310334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25%</a:t>
            </a:r>
            <a:endParaRPr lang="en-US" dirty="0">
              <a:solidFill>
                <a:schemeClr val="bg1"/>
              </a:solidFill>
              <a:cs typeface="Calibri" panose="020F050202020403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40BE6797-44CD-EB11-0D29-AE92DF3FD3EC}"/>
              </a:ext>
            </a:extLst>
          </p:cNvPr>
          <p:cNvSpPr/>
          <p:nvPr/>
        </p:nvSpPr>
        <p:spPr>
          <a:xfrm>
            <a:off x="2211369" y="4800916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="" xmlns:a16="http://schemas.microsoft.com/office/drawing/2014/main" id="{6ACBE386-99DA-4538-A2D7-C43EB4A4CB26}"/>
              </a:ext>
            </a:extLst>
          </p:cNvPr>
          <p:cNvSpPr/>
          <p:nvPr/>
        </p:nvSpPr>
        <p:spPr>
          <a:xfrm>
            <a:off x="6938091" y="4816862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="" xmlns:a16="http://schemas.microsoft.com/office/drawing/2014/main" id="{40BE6797-44CD-EB11-0D29-AE92DF3FD3EC}"/>
              </a:ext>
            </a:extLst>
          </p:cNvPr>
          <p:cNvSpPr/>
          <p:nvPr/>
        </p:nvSpPr>
        <p:spPr>
          <a:xfrm>
            <a:off x="2211369" y="5335500"/>
            <a:ext cx="3403275" cy="33884"/>
          </a:xfrm>
          <a:prstGeom prst="rect">
            <a:avLst/>
          </a:prstGeom>
          <a:solidFill>
            <a:srgbClr val="163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6ACBE386-99DA-4538-A2D7-C43EB4A4CB26}"/>
              </a:ext>
            </a:extLst>
          </p:cNvPr>
          <p:cNvSpPr/>
          <p:nvPr/>
        </p:nvSpPr>
        <p:spPr>
          <a:xfrm>
            <a:off x="6895887" y="5351446"/>
            <a:ext cx="3403275" cy="33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4" name="TextBox 10">
            <a:extLst>
              <a:ext uri="{FF2B5EF4-FFF2-40B4-BE49-F238E27FC236}">
                <a16:creationId xmlns="" xmlns:a16="http://schemas.microsoft.com/office/drawing/2014/main" id="{CE441B37-CBDE-327D-4CF7-5F3F62D18B9E}"/>
              </a:ext>
            </a:extLst>
          </p:cNvPr>
          <p:cNvSpPr txBox="1"/>
          <p:nvPr/>
        </p:nvSpPr>
        <p:spPr>
          <a:xfrm>
            <a:off x="2003246" y="4839401"/>
            <a:ext cx="367486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rgbClr val="163654"/>
                </a:solidFill>
                <a:ea typeface="+mn-lt"/>
                <a:cs typeface="+mn-lt"/>
              </a:rPr>
              <a:t>49 to 60 Months</a:t>
            </a:r>
            <a:endParaRPr lang="en-US" sz="2400" dirty="0">
              <a:solidFill>
                <a:srgbClr val="163654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rgbClr val="16365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5" name="TextBox 10">
            <a:extLst>
              <a:ext uri="{FF2B5EF4-FFF2-40B4-BE49-F238E27FC236}">
                <a16:creationId xmlns="" xmlns:a16="http://schemas.microsoft.com/office/drawing/2014/main" id="{C8E213A7-180F-6CFC-6332-1E5176422B12}"/>
              </a:ext>
            </a:extLst>
          </p:cNvPr>
          <p:cNvSpPr txBox="1"/>
          <p:nvPr/>
        </p:nvSpPr>
        <p:spPr>
          <a:xfrm>
            <a:off x="6733920" y="4870706"/>
            <a:ext cx="36748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20%</a:t>
            </a:r>
            <a:endParaRPr lang="en-US" dirty="0">
              <a:solidFill>
                <a:schemeClr val="bg1"/>
              </a:solidFill>
              <a:cs typeface="Calibri" panose="020F0502020204030204"/>
            </a:endParaRPr>
          </a:p>
        </p:txBody>
      </p:sp>
      <p:pic>
        <p:nvPicPr>
          <p:cNvPr id="56" name="Picture 55" descr="Untitled-removebg-preview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2554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ck Mark Icon 9591689 PNG">
            <a:extLst>
              <a:ext uri="{FF2B5EF4-FFF2-40B4-BE49-F238E27FC236}">
                <a16:creationId xmlns="" xmlns:a16="http://schemas.microsoft.com/office/drawing/2014/main" id="{B6A84C3E-2B73-EF08-E2A7-8CC915F35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6" y="1488132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heck Mark Icon 9591689 PNG">
            <a:extLst>
              <a:ext uri="{FF2B5EF4-FFF2-40B4-BE49-F238E27FC236}">
                <a16:creationId xmlns="" xmlns:a16="http://schemas.microsoft.com/office/drawing/2014/main" id="{3E1C5CB5-5C54-0F02-5321-0826572D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84" y="2868450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heck Mark Icon 9591689 PNG">
            <a:extLst>
              <a:ext uri="{FF2B5EF4-FFF2-40B4-BE49-F238E27FC236}">
                <a16:creationId xmlns="" xmlns:a16="http://schemas.microsoft.com/office/drawing/2014/main" id="{FF3D64E1-B644-B17D-BDDB-3D20438E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524" y="1489792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">
            <a:extLst>
              <a:ext uri="{FF2B5EF4-FFF2-40B4-BE49-F238E27FC236}">
                <a16:creationId xmlns="" xmlns:a16="http://schemas.microsoft.com/office/drawing/2014/main" id="{41464896-770F-225D-1EB3-040C89B0BE37}"/>
              </a:ext>
            </a:extLst>
          </p:cNvPr>
          <p:cNvSpPr txBox="1"/>
          <p:nvPr/>
        </p:nvSpPr>
        <p:spPr>
          <a:xfrm>
            <a:off x="1228945" y="1604717"/>
            <a:ext cx="44522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Increase Repeated Transactions</a:t>
            </a:r>
            <a:endParaRPr lang="en-US" b="1" dirty="0">
              <a:solidFill>
                <a:srgbClr val="FFFFFF"/>
              </a:solidFill>
              <a:latin typeface="Lato" panose="020F0502020204030203" pitchFamily="34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More Frequent, Affordable Upgrades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="" xmlns:a16="http://schemas.microsoft.com/office/drawing/2014/main" id="{6AD9ECE9-817F-2A53-140F-7DA5A1144556}"/>
              </a:ext>
            </a:extLst>
          </p:cNvPr>
          <p:cNvSpPr txBox="1"/>
          <p:nvPr/>
        </p:nvSpPr>
        <p:spPr>
          <a:xfrm>
            <a:off x="6968564" y="2936760"/>
            <a:ext cx="496083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Acer India gets payment from </a:t>
            </a:r>
            <a:r>
              <a:rPr lang="en-US" b="1" dirty="0" err="1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Xtracover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on monthly basis against vouchers redeemed.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="" xmlns:a16="http://schemas.microsoft.com/office/drawing/2014/main" id="{977FEC8C-7BA5-CE90-3CCD-1E9718AB7A3F}"/>
              </a:ext>
            </a:extLst>
          </p:cNvPr>
          <p:cNvSpPr txBox="1"/>
          <p:nvPr/>
        </p:nvSpPr>
        <p:spPr>
          <a:xfrm>
            <a:off x="6970885" y="1617675"/>
            <a:ext cx="474828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Effective Recycling of Electronics</a:t>
            </a:r>
            <a:endParaRPr lang="en-US" b="1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  <a:p>
            <a:r>
              <a:rPr lang="en-US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Reduced Carbon Footprint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pic>
        <p:nvPicPr>
          <p:cNvPr id="21" name="Picture 20" descr="Check Mark Icon 9591689 PNG">
            <a:extLst>
              <a:ext uri="{FF2B5EF4-FFF2-40B4-BE49-F238E27FC236}">
                <a16:creationId xmlns="" xmlns:a16="http://schemas.microsoft.com/office/drawing/2014/main" id="{57186DD8-C170-3BDF-EA61-333F7676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15" y="2764975"/>
            <a:ext cx="922361" cy="922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479325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rgbClr val="B9CFEA"/>
                </a:solidFill>
                <a:latin typeface="Kollektif"/>
              </a:rPr>
              <a:t>Key Advantages for </a:t>
            </a:r>
            <a:r>
              <a:rPr lang="en-US" sz="3200" dirty="0" smtClean="0">
                <a:solidFill>
                  <a:srgbClr val="B9CFEA"/>
                </a:solidFill>
                <a:latin typeface="Kollektif"/>
              </a:rPr>
              <a:t>Acer India </a:t>
            </a:r>
            <a:endParaRPr lang="en-US" dirty="0"/>
          </a:p>
        </p:txBody>
      </p:sp>
      <p:sp>
        <p:nvSpPr>
          <p:cNvPr id="18" name="TextBox 4">
            <a:extLst>
              <a:ext uri="{FF2B5EF4-FFF2-40B4-BE49-F238E27FC236}">
                <a16:creationId xmlns="" xmlns:a16="http://schemas.microsoft.com/office/drawing/2014/main" id="{19563070-5161-7DB3-1C45-F89BCF9BFF5C}"/>
              </a:ext>
            </a:extLst>
          </p:cNvPr>
          <p:cNvSpPr txBox="1"/>
          <p:nvPr/>
        </p:nvSpPr>
        <p:spPr>
          <a:xfrm>
            <a:off x="1228945" y="2991564"/>
            <a:ext cx="445225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FFFFFF"/>
                </a:solidFill>
                <a:latin typeface="Lato"/>
                <a:ea typeface="Lato"/>
                <a:cs typeface="Lato"/>
              </a:rPr>
              <a:t>Helps Acer in retaining Customers for repeat Purchase of Acer Laptop against the existing one from Acer eStore</a:t>
            </a:r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/>
              <a:cs typeface="Lato"/>
            </a:endParaRPr>
          </a:p>
        </p:txBody>
      </p:sp>
      <p:pic>
        <p:nvPicPr>
          <p:cNvPr id="12" name="Picture 11" descr="Untitled-removebg-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7129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479325"/>
            <a:ext cx="1121369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solidFill>
                  <a:srgbClr val="B9CFEA"/>
                </a:solidFill>
                <a:latin typeface="Kollektif"/>
              </a:rPr>
              <a:t>Customer Journey for </a:t>
            </a:r>
            <a:r>
              <a:rPr lang="en-US" sz="3200" dirty="0" err="1">
                <a:solidFill>
                  <a:srgbClr val="B9CFEA"/>
                </a:solidFill>
                <a:latin typeface="Kollektif"/>
              </a:rPr>
              <a:t>BuyBack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 Guarantee </a:t>
            </a:r>
            <a:endParaRPr lang="en-US" dirty="0"/>
          </a:p>
          <a:p>
            <a:r>
              <a:rPr lang="en-US" sz="2400" dirty="0">
                <a:solidFill>
                  <a:srgbClr val="FF6969"/>
                </a:solidFill>
                <a:latin typeface="Kollektif"/>
              </a:rPr>
              <a:t>Brands / E-Commerce </a:t>
            </a:r>
            <a:endParaRPr lang="en-US" sz="2800" dirty="0">
              <a:cs typeface="Calibri" panose="020F0502020204030204"/>
            </a:endParaRPr>
          </a:p>
        </p:txBody>
      </p:sp>
      <p:sp>
        <p:nvSpPr>
          <p:cNvPr id="2" name="Rounded Rectangle 45">
            <a:extLst>
              <a:ext uri="{FF2B5EF4-FFF2-40B4-BE49-F238E27FC236}">
                <a16:creationId xmlns="" xmlns:a16="http://schemas.microsoft.com/office/drawing/2014/main" id="{BFA66C1E-D1B3-B913-55A5-0C29D1265437}"/>
              </a:ext>
            </a:extLst>
          </p:cNvPr>
          <p:cNvSpPr/>
          <p:nvPr/>
        </p:nvSpPr>
        <p:spPr>
          <a:xfrm>
            <a:off x="428485" y="4266706"/>
            <a:ext cx="1995399" cy="700727"/>
          </a:xfrm>
          <a:prstGeom prst="roundRect">
            <a:avLst/>
          </a:prstGeom>
          <a:solidFill>
            <a:srgbClr val="B9CF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rgbClr val="271F39"/>
                </a:solidFill>
                <a:latin typeface="Lato"/>
                <a:ea typeface="Lato"/>
                <a:cs typeface="Lato"/>
              </a:rPr>
              <a:t>Buy </a:t>
            </a:r>
            <a:r>
              <a:rPr lang="en-US" sz="1200" b="1" dirty="0" smtClean="0">
                <a:solidFill>
                  <a:srgbClr val="271F39"/>
                </a:solidFill>
                <a:latin typeface="Lato"/>
                <a:ea typeface="Lato"/>
                <a:cs typeface="Lato"/>
              </a:rPr>
              <a:t>Device online </a:t>
            </a:r>
            <a:r>
              <a:rPr lang="en-US" sz="1200" b="1" dirty="0">
                <a:solidFill>
                  <a:srgbClr val="271F39"/>
                </a:solidFill>
                <a:latin typeface="Lato"/>
                <a:ea typeface="Lato"/>
                <a:cs typeface="Lato"/>
              </a:rPr>
              <a:t>from </a:t>
            </a:r>
            <a:r>
              <a:rPr lang="en-US" sz="1200" b="1" dirty="0" smtClean="0">
                <a:solidFill>
                  <a:srgbClr val="271F39"/>
                </a:solidFill>
                <a:latin typeface="Lato"/>
                <a:ea typeface="Lato"/>
                <a:cs typeface="Lato"/>
              </a:rPr>
              <a:t>Acer eStore</a:t>
            </a:r>
            <a:endParaRPr lang="en-US" sz="1200" dirty="0"/>
          </a:p>
        </p:txBody>
      </p:sp>
      <p:sp>
        <p:nvSpPr>
          <p:cNvPr id="5" name="Rounded Rectangle 45">
            <a:extLst>
              <a:ext uri="{FF2B5EF4-FFF2-40B4-BE49-F238E27FC236}">
                <a16:creationId xmlns="" xmlns:a16="http://schemas.microsoft.com/office/drawing/2014/main" id="{D29FA11D-48E1-3F8D-1684-04C77FBE6BF0}"/>
              </a:ext>
            </a:extLst>
          </p:cNvPr>
          <p:cNvSpPr/>
          <p:nvPr/>
        </p:nvSpPr>
        <p:spPr>
          <a:xfrm>
            <a:off x="2758340" y="4266706"/>
            <a:ext cx="2000881" cy="700727"/>
          </a:xfrm>
          <a:prstGeom prst="roundRect">
            <a:avLst/>
          </a:prstGeom>
          <a:solidFill>
            <a:srgbClr val="B9CF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271F39"/>
                </a:solidFill>
                <a:ea typeface="+mn-lt"/>
                <a:cs typeface="+mn-lt"/>
              </a:rPr>
              <a:t>Customer will select BBG Service along with the transaction.</a:t>
            </a:r>
            <a:endParaRPr lang="en-US" dirty="0"/>
          </a:p>
        </p:txBody>
      </p:sp>
      <p:sp>
        <p:nvSpPr>
          <p:cNvPr id="6" name="Rounded Rectangle 45">
            <a:extLst>
              <a:ext uri="{FF2B5EF4-FFF2-40B4-BE49-F238E27FC236}">
                <a16:creationId xmlns="" xmlns:a16="http://schemas.microsoft.com/office/drawing/2014/main" id="{618943DC-DCCC-92DB-E8DB-569F9D82CC1F}"/>
              </a:ext>
            </a:extLst>
          </p:cNvPr>
          <p:cNvSpPr/>
          <p:nvPr/>
        </p:nvSpPr>
        <p:spPr>
          <a:xfrm>
            <a:off x="5093677" y="4266706"/>
            <a:ext cx="2000881" cy="700727"/>
          </a:xfrm>
          <a:prstGeom prst="roundRect">
            <a:avLst/>
          </a:prstGeom>
          <a:solidFill>
            <a:srgbClr val="B9CF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271F39"/>
                </a:solidFill>
                <a:ea typeface="+mn-lt"/>
                <a:cs typeface="+mn-lt"/>
              </a:rPr>
              <a:t>Customer Visit XC Website via link  to Register</a:t>
            </a:r>
            <a:endParaRPr lang="en-US" dirty="0"/>
          </a:p>
        </p:txBody>
      </p:sp>
      <p:sp>
        <p:nvSpPr>
          <p:cNvPr id="7" name="Rounded Rectangle 45">
            <a:extLst>
              <a:ext uri="{FF2B5EF4-FFF2-40B4-BE49-F238E27FC236}">
                <a16:creationId xmlns="" xmlns:a16="http://schemas.microsoft.com/office/drawing/2014/main" id="{0994F539-BF79-7223-C1C9-78D27C2E773F}"/>
              </a:ext>
            </a:extLst>
          </p:cNvPr>
          <p:cNvSpPr/>
          <p:nvPr/>
        </p:nvSpPr>
        <p:spPr>
          <a:xfrm>
            <a:off x="7429015" y="4266705"/>
            <a:ext cx="2122948" cy="700727"/>
          </a:xfrm>
          <a:prstGeom prst="roundRect">
            <a:avLst/>
          </a:prstGeom>
          <a:solidFill>
            <a:srgbClr val="B9CF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271F39"/>
                </a:solidFill>
                <a:latin typeface="Lato"/>
                <a:ea typeface="Lato"/>
                <a:cs typeface="Lato"/>
              </a:rPr>
              <a:t>Use Device for Up to BBG </a:t>
            </a:r>
            <a:r>
              <a:rPr lang="en-US" sz="1400" b="1" dirty="0" smtClean="0">
                <a:solidFill>
                  <a:srgbClr val="271F39"/>
                </a:solidFill>
                <a:latin typeface="Lato"/>
                <a:ea typeface="Lato"/>
                <a:cs typeface="Lato"/>
              </a:rPr>
              <a:t>Covered Period</a:t>
            </a:r>
            <a:endParaRPr lang="en-US" sz="1400" b="1" dirty="0">
              <a:solidFill>
                <a:srgbClr val="271F3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Rounded Rectangle 45">
            <a:extLst>
              <a:ext uri="{FF2B5EF4-FFF2-40B4-BE49-F238E27FC236}">
                <a16:creationId xmlns="" xmlns:a16="http://schemas.microsoft.com/office/drawing/2014/main" id="{DE0198A7-E37D-29B2-0070-D150BF5BD83A}"/>
              </a:ext>
            </a:extLst>
          </p:cNvPr>
          <p:cNvSpPr/>
          <p:nvPr/>
        </p:nvSpPr>
        <p:spPr>
          <a:xfrm>
            <a:off x="9764353" y="4152901"/>
            <a:ext cx="2000881" cy="1104900"/>
          </a:xfrm>
          <a:prstGeom prst="roundRect">
            <a:avLst/>
          </a:prstGeom>
          <a:solidFill>
            <a:srgbClr val="B9CF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271F39"/>
                </a:solidFill>
                <a:latin typeface="Lato"/>
                <a:ea typeface="Lato"/>
                <a:cs typeface="Lato"/>
              </a:rPr>
              <a:t>Raise Request by Calling / web of XC. Get Free Pickup &amp; Instant </a:t>
            </a:r>
            <a:r>
              <a:rPr lang="en-US" sz="1400" b="1" dirty="0" smtClean="0">
                <a:solidFill>
                  <a:srgbClr val="271F39"/>
                </a:solidFill>
                <a:latin typeface="Lato"/>
                <a:ea typeface="Lato"/>
                <a:cs typeface="Lato"/>
              </a:rPr>
              <a:t>eVoucher</a:t>
            </a:r>
            <a:endParaRPr lang="en-US" sz="1400" b="1" dirty="0">
              <a:solidFill>
                <a:srgbClr val="271F39"/>
              </a:solidFill>
              <a:latin typeface="Lato"/>
              <a:ea typeface="Lato"/>
              <a:cs typeface="Lato"/>
            </a:endParaRPr>
          </a:p>
          <a:p>
            <a:pPr algn="ctr"/>
            <a:endParaRPr lang="en-US" sz="1400" b="1" dirty="0">
              <a:solidFill>
                <a:srgbClr val="271F39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" name="Graphic 13" descr="Internet with solid fill">
            <a:extLst>
              <a:ext uri="{FF2B5EF4-FFF2-40B4-BE49-F238E27FC236}">
                <a16:creationId xmlns="" xmlns:a16="http://schemas.microsoft.com/office/drawing/2014/main" id="{ED45C4AE-53C3-C48E-34D0-B5A8217AB4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6988" y="2472937"/>
            <a:ext cx="1638025" cy="1632543"/>
          </a:xfrm>
          <a:prstGeom prst="rect">
            <a:avLst/>
          </a:prstGeom>
        </p:spPr>
      </p:pic>
      <p:pic>
        <p:nvPicPr>
          <p:cNvPr id="15" name="Graphic 14" descr="Alarm clock with solid fill">
            <a:extLst>
              <a:ext uri="{FF2B5EF4-FFF2-40B4-BE49-F238E27FC236}">
                <a16:creationId xmlns="" xmlns:a16="http://schemas.microsoft.com/office/drawing/2014/main" id="{579B74BB-E6FE-08E8-634D-75FB8EE2D9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8452" y="2484244"/>
            <a:ext cx="1500975" cy="1517421"/>
          </a:xfrm>
          <a:prstGeom prst="rect">
            <a:avLst/>
          </a:prstGeom>
        </p:spPr>
      </p:pic>
      <p:pic>
        <p:nvPicPr>
          <p:cNvPr id="17" name="Graphic 16" descr="Money with solid fill">
            <a:extLst>
              <a:ext uri="{FF2B5EF4-FFF2-40B4-BE49-F238E27FC236}">
                <a16:creationId xmlns="" xmlns:a16="http://schemas.microsoft.com/office/drawing/2014/main" id="{B1502805-6766-2716-5773-802C1261C8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85399" y="2564075"/>
            <a:ext cx="1352961" cy="1352961"/>
          </a:xfrm>
          <a:prstGeom prst="rect">
            <a:avLst/>
          </a:prstGeom>
        </p:spPr>
      </p:pic>
      <p:pic>
        <p:nvPicPr>
          <p:cNvPr id="18" name="Graphic 17" descr="Smart Phone with solid fill">
            <a:extLst>
              <a:ext uri="{FF2B5EF4-FFF2-40B4-BE49-F238E27FC236}">
                <a16:creationId xmlns="" xmlns:a16="http://schemas.microsoft.com/office/drawing/2014/main" id="{3E3E2E27-F40B-F791-EA3B-53127183B7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27" y="2654871"/>
            <a:ext cx="1265248" cy="1265248"/>
          </a:xfrm>
          <a:prstGeom prst="rect">
            <a:avLst/>
          </a:prstGeom>
        </p:spPr>
      </p:pic>
      <p:pic>
        <p:nvPicPr>
          <p:cNvPr id="22" name="Graphic 21" descr="Credit card with solid fill">
            <a:extLst>
              <a:ext uri="{FF2B5EF4-FFF2-40B4-BE49-F238E27FC236}">
                <a16:creationId xmlns="" xmlns:a16="http://schemas.microsoft.com/office/drawing/2014/main" id="{B399782D-38B3-C7D3-1191-7A3FF117354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92357" y="2523645"/>
            <a:ext cx="1528385" cy="1522903"/>
          </a:xfrm>
          <a:prstGeom prst="rect">
            <a:avLst/>
          </a:prstGeom>
        </p:spPr>
      </p:pic>
      <p:pic>
        <p:nvPicPr>
          <p:cNvPr id="16" name="Picture 15" descr="Untitled-removebg-preview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340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479325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 dirty="0">
                <a:solidFill>
                  <a:srgbClr val="B9CFEA"/>
                </a:solidFill>
                <a:latin typeface="Kollektif"/>
              </a:rPr>
              <a:t>General Terms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 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0787" y="1345223"/>
            <a:ext cx="1125855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BBG card gives assurance of minimum buyback value at the time of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purchase</a:t>
            </a:r>
            <a:endParaRPr lang="en-US" sz="22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You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have to be </a:t>
            </a: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the sole, absolute and lawful owner of the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Device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Registration of device is mandatory once Buyback voucher is purchased.</a:t>
            </a:r>
            <a:endParaRPr lang="en-US" sz="22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The original box, invoice, &amp; original accessories must be handed over at the time of claiming buyback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At the time of claiming buyback, the device must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be in </a:t>
            </a: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physically and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functionally “OK” condition, valid tax invoice must be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avAcerable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, device age must be same or less than SIXTY (60) months and all the spares of the device must be original.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If any of the above mentioned criteria is void, still the customer will receive the eVoucher of the value as per best market rate.</a:t>
            </a:r>
            <a:endParaRPr lang="en-US" sz="22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Additional 5</a:t>
            </a: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% depreciation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on </a:t>
            </a: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invoice value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over and above the Buy back value will </a:t>
            </a:r>
            <a:r>
              <a:rPr lang="en-US" sz="2200" dirty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be applicable if the device is not in normal usage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condition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</p:txBody>
      </p:sp>
      <p:pic>
        <p:nvPicPr>
          <p:cNvPr id="5" name="Picture 4" descr="Untitled-removebg-previe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3404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479325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 dirty="0">
                <a:solidFill>
                  <a:srgbClr val="B9CFEA"/>
                </a:solidFill>
                <a:latin typeface="Kollektif"/>
              </a:rPr>
              <a:t>COMMERICALS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 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91327926"/>
              </p:ext>
            </p:extLst>
          </p:nvPr>
        </p:nvGraphicFramePr>
        <p:xfrm>
          <a:off x="583028" y="2084230"/>
          <a:ext cx="10389772" cy="1452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443"/>
                <a:gridCol w="1996440"/>
                <a:gridCol w="3615397"/>
                <a:gridCol w="2180492"/>
              </a:tblGrid>
              <a:tr h="726093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Category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MRP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XC</a:t>
                      </a:r>
                      <a:r>
                        <a:rPr lang="en-US" sz="3600" baseline="0" dirty="0" smtClean="0"/>
                        <a:t> Selling Price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Taxes</a:t>
                      </a:r>
                      <a:endParaRPr lang="en-US" sz="3600" dirty="0"/>
                    </a:p>
                  </a:txBody>
                  <a:tcPr/>
                </a:tc>
              </a:tr>
              <a:tr h="726093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Laptops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499/-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49/-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Excluded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Untitled-removebg-previe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4340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479325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 dirty="0" smtClean="0">
                <a:solidFill>
                  <a:srgbClr val="B9CFEA"/>
                </a:solidFill>
                <a:latin typeface="Kollektif"/>
              </a:rPr>
              <a:t>BBG Sales (Date wise)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 </a:t>
            </a:r>
            <a:endParaRPr lang="en-US" dirty="0"/>
          </a:p>
        </p:txBody>
      </p:sp>
      <p:pic>
        <p:nvPicPr>
          <p:cNvPr id="6" name="Picture 5" descr="Untitled-removebg-previe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3027" y="1183897"/>
          <a:ext cx="2638476" cy="2194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13059"/>
                <a:gridCol w="1125417"/>
              </a:tblGrid>
              <a:tr h="351323">
                <a:tc>
                  <a:txBody>
                    <a:bodyPr/>
                    <a:lstStyle/>
                    <a:p>
                      <a:r>
                        <a:rPr lang="en-US" dirty="0" smtClean="0"/>
                        <a:t>Sales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Qty Sold</a:t>
                      </a:r>
                      <a:endParaRPr lang="en-US" dirty="0"/>
                    </a:p>
                  </a:txBody>
                  <a:tcPr/>
                </a:tc>
              </a:tr>
              <a:tr h="351323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Mar-25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1323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Mar-25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51323"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Mar-25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51323"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Mar-25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5132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 SALES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7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536961" y="4078309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 dirty="0" smtClean="0">
                <a:solidFill>
                  <a:srgbClr val="B9CFEA"/>
                </a:solidFill>
                <a:latin typeface="Kollektif"/>
              </a:rPr>
              <a:t>Strategies for </a:t>
            </a:r>
            <a:r>
              <a:rPr lang="en-US" sz="3200" b="1" u="sng" dirty="0" err="1" smtClean="0">
                <a:solidFill>
                  <a:srgbClr val="B9CFEA"/>
                </a:solidFill>
                <a:latin typeface="Kollektif"/>
              </a:rPr>
              <a:t>upscaling</a:t>
            </a:r>
            <a:r>
              <a:rPr lang="en-US" sz="3200" b="1" u="sng" dirty="0" smtClean="0">
                <a:solidFill>
                  <a:srgbClr val="B9CFEA"/>
                </a:solidFill>
                <a:latin typeface="Kollektif"/>
              </a:rPr>
              <a:t> the sales number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5193" y="4622995"/>
            <a:ext cx="112585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Commercials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for end customer is on higher side. Needs to be reduced.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BBG to be Hard-Bundled with Acer Laptops like Easy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C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arepacks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Customer needs to know the benefits of BBG with bullet points at the time of purchase</a:t>
            </a:r>
            <a:endParaRPr lang="en-US" sz="22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  <a:p>
            <a:pPr>
              <a:buFont typeface="Arial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4340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96FA524-1992-6DD1-8163-4C5DC6E8DD8B}"/>
              </a:ext>
            </a:extLst>
          </p:cNvPr>
          <p:cNvSpPr txBox="1"/>
          <p:nvPr/>
        </p:nvSpPr>
        <p:spPr>
          <a:xfrm>
            <a:off x="426763" y="226101"/>
            <a:ext cx="112136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 dirty="0" smtClean="0">
                <a:solidFill>
                  <a:srgbClr val="B9CFEA"/>
                </a:solidFill>
                <a:latin typeface="Kollektif"/>
              </a:rPr>
              <a:t>Internal Process Between Acer &amp; </a:t>
            </a:r>
            <a:r>
              <a:rPr lang="en-US" sz="3200" b="1" u="sng" dirty="0" err="1" smtClean="0">
                <a:solidFill>
                  <a:srgbClr val="B9CFEA"/>
                </a:solidFill>
                <a:latin typeface="Kollektif"/>
              </a:rPr>
              <a:t>Xtracover</a:t>
            </a:r>
            <a:r>
              <a:rPr lang="en-US" sz="3200" dirty="0">
                <a:solidFill>
                  <a:srgbClr val="B9CFEA"/>
                </a:solidFill>
                <a:latin typeface="Kollektif"/>
              </a:rPr>
              <a:t> </a:t>
            </a:r>
            <a:endParaRPr lang="en-US" dirty="0"/>
          </a:p>
        </p:txBody>
      </p:sp>
      <p:pic>
        <p:nvPicPr>
          <p:cNvPr id="6" name="Picture 5" descr="Untitled-removebg-previe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0787" y="1035727"/>
            <a:ext cx="1125855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Acer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shall share the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BBG Sales data in mutually agreed format to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on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regular basis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shall share the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details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of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Eligible Products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registered for the BBG Plan (including the product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details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and customer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details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) on XTPL’s portal with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Acer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on monthly basis in the format as mutually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agreed.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Acer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shall provide a link in Acer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eStore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for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Endusers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to reach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website to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register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the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BBG Plan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Acer 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may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advertise, promote and market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the BBG Plans as mutually agreed between the Parties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4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shall buy </a:t>
            </a:r>
            <a:r>
              <a:rPr lang="en-US" sz="24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discount vouchers</a:t>
            </a:r>
            <a:r>
              <a:rPr lang="en-US" sz="24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from Acer on as and when required basis which will be given to the </a:t>
            </a:r>
            <a:r>
              <a:rPr lang="en-US" sz="24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endusers</a:t>
            </a:r>
            <a:r>
              <a:rPr lang="en-US" sz="24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(as per assured buyback value of their Acer Laptop) for </a:t>
            </a:r>
            <a:r>
              <a:rPr lang="en-US" sz="24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future redeem</a:t>
            </a:r>
            <a:r>
              <a:rPr lang="en-US" sz="24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purpose.</a:t>
            </a:r>
            <a:endParaRPr lang="en-US" sz="2200" dirty="0" smtClean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  <a:p>
            <a:pPr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On monthly basis,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will share the </a:t>
            </a:r>
            <a:r>
              <a:rPr lang="en-US" sz="2200" b="1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Tax invoice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to ACER on the basis of total sales of previous month and Acer will pay the amount to </a:t>
            </a:r>
            <a:r>
              <a:rPr lang="en-US" sz="2200" dirty="0" err="1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Xtracover</a:t>
            </a:r>
            <a:r>
              <a:rPr lang="en-US" sz="2200" dirty="0" smtClean="0">
                <a:solidFill>
                  <a:schemeClr val="bg1"/>
                </a:solidFill>
                <a:latin typeface="Leelawadee UI" pitchFamily="34" charset="-34"/>
                <a:cs typeface="Leelawadee UI" pitchFamily="34" charset="-34"/>
              </a:rPr>
              <a:t> as per agreement</a:t>
            </a:r>
            <a:endParaRPr lang="en-US" sz="2200" dirty="0">
              <a:solidFill>
                <a:schemeClr val="bg1"/>
              </a:solidFill>
              <a:latin typeface="Leelawadee UI" pitchFamily="34" charset="-34"/>
              <a:cs typeface="Leelawadee UI" pitchFamily="34" charset="-3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4340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834" y="1740235"/>
            <a:ext cx="3341225" cy="9550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75016" y="2978837"/>
            <a:ext cx="3334043" cy="45719"/>
          </a:xfrm>
          <a:prstGeom prst="rect">
            <a:avLst/>
          </a:prstGeom>
          <a:solidFill>
            <a:srgbClr val="F55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5" name="Picture 4" descr="free_powerpoint_template_download_-_laptop_theme_19634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Untitled-removebg-preview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436" y="6232353"/>
            <a:ext cx="1832244" cy="4231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21916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658</Words>
  <Application>Microsoft Office PowerPoint</Application>
  <PresentationFormat>Custom</PresentationFormat>
  <Paragraphs>87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 theme</vt:lpstr>
      <vt:lpstr>Office Theme</vt:lpstr>
      <vt:lpstr>5_Office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Pratik</dc:creator>
  <cp:lastModifiedBy>Pratik</cp:lastModifiedBy>
  <cp:revision>203</cp:revision>
  <dcterms:created xsi:type="dcterms:W3CDTF">2023-09-09T07:12:42Z</dcterms:created>
  <dcterms:modified xsi:type="dcterms:W3CDTF">2025-06-10T10:03:12Z</dcterms:modified>
</cp:coreProperties>
</file>